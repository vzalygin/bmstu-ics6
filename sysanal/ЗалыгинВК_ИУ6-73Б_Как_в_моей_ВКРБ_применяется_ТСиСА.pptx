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6" r:id="rId1"/>
  </p:sldMasterIdLst>
  <p:notesMasterIdLst>
    <p:notesMasterId r:id="rId17"/>
  </p:notesMasterIdLst>
  <p:sldIdLst>
    <p:sldId id="256" r:id="rId2"/>
    <p:sldId id="262" r:id="rId3"/>
    <p:sldId id="261" r:id="rId4"/>
    <p:sldId id="258" r:id="rId5"/>
    <p:sldId id="274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C34FE-7DDA-4A82-9AD9-6955A6B4C9E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E9E69-77E6-441A-984B-DF132B991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33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1C40-A55C-4ABE-B446-3F43F23CDAB1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EFDA-5AA6-4DB0-9B22-41778F6A1BF9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FB8B8-CCD7-4414-90D3-0C05CD86AC3F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2D16-0BE9-416B-8DFC-5561DE5B51EB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0613F-105B-4429-9160-032BB95B9541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096C8-22FE-48A5-A8D2-317F3C9E7CF2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E414-A1BC-4A1D-A5D6-32AB0D192329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D8D3-4D20-45DE-B971-90022029EA90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955EF89-5617-47F4-9CFF-621FCE37BE2C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33E8C-9C44-4C7F-B934-6A7B1EB91662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2B091-D0A5-4A87-BD4D-4496D5C51A96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65D768A-231C-4190-AFF9-A0BA56A2CD97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CA5F8-00B0-4392-BB83-82D0BE7EF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Компилятор стекового языка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32DADD-E8B3-4368-A1B6-09F2128654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alibri" panose="020F0502020204030204" pitchFamily="34" charset="0"/>
                <a:cs typeface="Calibri" panose="020F0502020204030204" pitchFamily="34" charset="0"/>
              </a:rPr>
              <a:t>Залыгин Вячеслав, ИУ6-73Б</a:t>
            </a:r>
            <a:endParaRPr lang="ru-R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9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129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Решаемая в рамках ВКРБ задача: разработка компилятора стекового языка программирования.</a:t>
            </a:r>
          </a:p>
          <a:p>
            <a:pPr marL="0" indent="0">
              <a:buNone/>
            </a:pPr>
            <a:r>
              <a:rPr lang="ru-RU" sz="2400" dirty="0"/>
              <a:t>Проблема: компилятор – сложная система с множеством взаимодействующих компонентов (лексический, синтаксический анализ, оптимизация, генерация кода).</a:t>
            </a:r>
          </a:p>
          <a:p>
            <a:pPr marL="0" indent="0">
              <a:buNone/>
            </a:pPr>
            <a:r>
              <a:rPr lang="ru-RU" sz="2400" dirty="0"/>
              <a:t>Роль </a:t>
            </a:r>
            <a:r>
              <a:rPr lang="ru-RU" sz="2400" dirty="0" err="1"/>
              <a:t>ТСиСА</a:t>
            </a:r>
            <a:r>
              <a:rPr lang="ru-RU" sz="2400" dirty="0"/>
              <a:t>: методологическая основа для анализа, проектирования и оптимизации такой системы.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641562-CAF8-41FF-AE22-DA274941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9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Цель и задачи ВКРБ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12909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dirty="0"/>
              <a:t>Цель (системная): Создать корректно работающую, оптимизированную систему (компилятор), удовлетворяющую заданным требованиям.</a:t>
            </a:r>
          </a:p>
          <a:p>
            <a:pPr marL="0" indent="0">
              <a:buNone/>
            </a:pPr>
            <a:r>
              <a:rPr lang="ru-RU" sz="2400" dirty="0"/>
              <a:t>Задачи, решаемые методами </a:t>
            </a:r>
            <a:r>
              <a:rPr lang="ru-RU" sz="2400" dirty="0" err="1"/>
              <a:t>ТСиСА</a:t>
            </a:r>
            <a:r>
              <a:rPr lang="ru-RU" sz="2400" dirty="0"/>
              <a:t>:</a:t>
            </a:r>
          </a:p>
          <a:p>
            <a:pPr lvl="1"/>
            <a:r>
              <a:rPr lang="ru-RU" sz="2400" dirty="0"/>
              <a:t>Анализ: Определение границ, входов, выходов и функций системы (IDEF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ru-RU" sz="2400" dirty="0"/>
              <a:t>).</a:t>
            </a:r>
          </a:p>
          <a:p>
            <a:pPr lvl="1"/>
            <a:r>
              <a:rPr lang="ru-RU" sz="2400" dirty="0"/>
              <a:t>Проектирование: Декомпозиция на модули, проектирование взаимодействий.</a:t>
            </a:r>
          </a:p>
          <a:p>
            <a:pPr lvl="1"/>
            <a:r>
              <a:rPr lang="ru-RU" sz="2400" dirty="0"/>
              <a:t>Оптимизация: Выявление и устранение узких мест в процессах компиляции.</a:t>
            </a:r>
          </a:p>
          <a:p>
            <a:pPr lvl="1"/>
            <a:r>
              <a:rPr lang="ru-RU" sz="2400" dirty="0"/>
              <a:t>Верификация: Обеспечение логической согласованности и надежности системы.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3CE634-95CD-4864-AFCE-C3E9897C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основные принципы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129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Система: Компилятор рассматривается как целостный объект с четкими границами, входами (исходный код) и выходами (исполняемый код/</a:t>
            </a:r>
            <a:r>
              <a:rPr lang="ru-RU" sz="2000" dirty="0" err="1"/>
              <a:t>байткод</a:t>
            </a:r>
            <a:r>
              <a:rPr lang="ru-RU" sz="2000" dirty="0"/>
              <a:t>).</a:t>
            </a:r>
          </a:p>
          <a:p>
            <a:pPr marL="0" indent="0">
              <a:buNone/>
            </a:pPr>
            <a:r>
              <a:rPr lang="ru-RU" sz="2000" dirty="0"/>
              <a:t>Структурный подход: Компилятор декомпозируется на взаимосвязанные функциональные подсистемы.</a:t>
            </a:r>
          </a:p>
          <a:p>
            <a:pPr marL="0" indent="0">
              <a:buNone/>
            </a:pPr>
            <a:r>
              <a:rPr lang="ru-RU" sz="2000" dirty="0"/>
              <a:t>Целенаправленность: Каждый модуль компилятора имеет конкретную цель в рамках общей задачи трансляции.</a:t>
            </a:r>
          </a:p>
          <a:p>
            <a:pPr marL="0" indent="0">
              <a:buNone/>
            </a:pPr>
            <a:r>
              <a:rPr lang="ru-RU" sz="2000" dirty="0"/>
              <a:t>Связность: Важно не только спроектировать модули, но и четко определить интерфейсы и потоки данных между ними.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F364DF-7E33-4ADA-8ADB-B6F5EA7F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9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Классификация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Искусственная, техническая и информационная система.</a:t>
            </a:r>
          </a:p>
          <a:p>
            <a:pPr marL="0" indent="0">
              <a:buNone/>
            </a:pPr>
            <a:r>
              <a:rPr lang="ru-RU" sz="2000" dirty="0"/>
              <a:t>Открытая: зависит от среды (версии библиотек, импорта функций окружения, параметров компиляции). </a:t>
            </a:r>
          </a:p>
          <a:p>
            <a:pPr marL="0" indent="0">
              <a:buNone/>
            </a:pPr>
            <a:r>
              <a:rPr lang="ru-RU" sz="2000" dirty="0"/>
              <a:t>Сложная и иерархическая: несколько уровней абстракции (текст → AST → IR → целевой формат).</a:t>
            </a:r>
          </a:p>
          <a:p>
            <a:pPr marL="0" indent="0">
              <a:buNone/>
            </a:pPr>
            <a:r>
              <a:rPr lang="ru-RU" sz="2000" dirty="0"/>
              <a:t>Динамическая: для разных входов и флагов компиляции поведение существенно различается.</a:t>
            </a:r>
          </a:p>
          <a:p>
            <a:pPr marL="0" indent="0">
              <a:buNone/>
            </a:pPr>
            <a:r>
              <a:rPr lang="ru-RU" sz="2000" dirty="0"/>
              <a:t>Система с качественными показателями: корректность, производительность, переносимость, </a:t>
            </a:r>
            <a:r>
              <a:rPr lang="ru-RU" sz="2000" dirty="0" err="1"/>
              <a:t>сопровождаемость</a:t>
            </a:r>
            <a:r>
              <a:rPr lang="ru-RU" sz="2000" dirty="0"/>
              <a:t> (их нужно “прикреплять” к подсистемам через метрики и тесты).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0C5B27-D285-417B-9278-EF32E965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8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 исследования:</a:t>
            </a:r>
            <a:br>
              <a:rPr lang="ru-RU" b="1" dirty="0"/>
            </a:br>
            <a:r>
              <a:rPr lang="ru-RU" b="1" dirty="0"/>
              <a:t>Стековые языки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129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Особенность: исполнение основано на стековой виртуальной машине (</a:t>
            </a:r>
            <a:r>
              <a:rPr lang="ru-RU" sz="2400" dirty="0" err="1"/>
              <a:t>Forth</a:t>
            </a:r>
            <a:r>
              <a:rPr lang="ru-RU" sz="2400" dirty="0"/>
              <a:t>, </a:t>
            </a:r>
            <a:r>
              <a:rPr lang="ru-RU" sz="2400" dirty="0" err="1"/>
              <a:t>Joy</a:t>
            </a:r>
            <a:r>
              <a:rPr lang="ru-RU" sz="2400" dirty="0"/>
              <a:t>, </a:t>
            </a:r>
            <a:r>
              <a:rPr lang="ru-RU" sz="2400" dirty="0" err="1"/>
              <a:t>Factor</a:t>
            </a:r>
            <a:r>
              <a:rPr lang="ru-RU" sz="2400" dirty="0"/>
              <a:t>, </a:t>
            </a:r>
            <a:r>
              <a:rPr lang="ru-RU" sz="2400" dirty="0" err="1"/>
              <a:t>WebAssembly</a:t>
            </a:r>
            <a:r>
              <a:rPr lang="ru-RU" sz="2400" dirty="0"/>
              <a:t>).</a:t>
            </a:r>
          </a:p>
          <a:p>
            <a:pPr marL="0" indent="0">
              <a:buNone/>
            </a:pPr>
            <a:r>
              <a:rPr lang="ru-RU" sz="2400" dirty="0"/>
              <a:t>Проблематика компилятора: эффективная трансляция кода, оптимизация стековых операций, управление памятью.</a:t>
            </a:r>
          </a:p>
          <a:p>
            <a:pPr marL="0" indent="0">
              <a:buNone/>
            </a:pPr>
            <a:r>
              <a:rPr lang="ru-RU" sz="2400" dirty="0"/>
              <a:t>Результат НИР: проведен сравнительный анализ языков (синтаксис, типизация, оптимизации, управление памятью).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D1710D-EF15-4DD5-8D4A-BF93BD94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03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Применение IDEF0: Определение контекста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5" y="1864453"/>
            <a:ext cx="5159230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Контекстная диаграмма (A-0): Определяет компилятор как «черный ящик».</a:t>
            </a:r>
          </a:p>
          <a:p>
            <a:pPr marL="0" indent="0">
              <a:buNone/>
            </a:pPr>
            <a:r>
              <a:rPr lang="ru-RU" dirty="0"/>
              <a:t>Входы: Исходный код, спецификации языка.</a:t>
            </a:r>
          </a:p>
          <a:p>
            <a:pPr marL="0" indent="0">
              <a:buNone/>
            </a:pPr>
            <a:r>
              <a:rPr lang="ru-RU" dirty="0"/>
              <a:t>Выходы: Целевой код (ассемблер/</a:t>
            </a:r>
            <a:r>
              <a:rPr lang="ru-RU" dirty="0" err="1"/>
              <a:t>байткод</a:t>
            </a:r>
            <a:r>
              <a:rPr lang="ru-RU" dirty="0"/>
              <a:t>), сообщения об ошибках.</a:t>
            </a:r>
          </a:p>
          <a:p>
            <a:pPr marL="0" indent="0">
              <a:buNone/>
            </a:pPr>
            <a:r>
              <a:rPr lang="ru-RU" dirty="0"/>
              <a:t>Управление: Грамматика языка, флаги компиляции.</a:t>
            </a:r>
          </a:p>
          <a:p>
            <a:pPr marL="0" indent="0">
              <a:buNone/>
            </a:pPr>
            <a:r>
              <a:rPr lang="ru-RU" dirty="0"/>
              <a:t>Механизмы: Процессор, память, разработчик.</a:t>
            </a:r>
          </a:p>
          <a:p>
            <a:pPr marL="0" indent="0">
              <a:buNone/>
            </a:pPr>
            <a:r>
              <a:rPr lang="ru-RU" dirty="0"/>
              <a:t>Результат: Четкое понимание границ системы и ее взаимодействия с внешним миром.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3A3D1F-0F0E-481D-B275-CE8F9368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F38303-A9B1-4411-8A56-955485F9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82" y="1864453"/>
            <a:ext cx="6032840" cy="347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2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Моделирование процессов компиляции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" y="1527679"/>
            <a:ext cx="5729681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Декомпозиция главной функции: «Компилировать код».</a:t>
            </a:r>
          </a:p>
          <a:p>
            <a:pPr marL="0" indent="0">
              <a:buNone/>
            </a:pPr>
            <a:r>
              <a:rPr lang="ru-RU" sz="2000" dirty="0"/>
              <a:t>Ключевые подпроцессы:</a:t>
            </a:r>
          </a:p>
          <a:p>
            <a:pPr lvl="1"/>
            <a:r>
              <a:rPr lang="ru-RU" sz="2000" dirty="0"/>
              <a:t>A1: Разбор входного файла (лексический, синтаксический анализ).</a:t>
            </a:r>
          </a:p>
          <a:p>
            <a:pPr lvl="1"/>
            <a:r>
              <a:rPr lang="ru-RU" sz="2000" dirty="0"/>
              <a:t>A2: Оптимизация (локальная, глобальная).</a:t>
            </a:r>
          </a:p>
          <a:p>
            <a:pPr lvl="1"/>
            <a:r>
              <a:rPr lang="ru-RU" sz="2000" dirty="0"/>
              <a:t>A3: Генерация выходного файла.</a:t>
            </a:r>
          </a:p>
          <a:p>
            <a:pPr marL="0" indent="0">
              <a:buNone/>
            </a:pPr>
            <a:r>
              <a:rPr lang="ru-RU" sz="2000" dirty="0"/>
              <a:t>Наглядное представление основных этапов работы компилятора и потоков данных между ними (АСТ, промежуточные представления).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CE9332-ED1C-416B-A8F9-F047886B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4EC9DC-4AD1-4A60-BAF1-A5CA8BE3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13" y="1527679"/>
            <a:ext cx="5845754" cy="364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Детальный анализ подпроцессов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1627464"/>
            <a:ext cx="9857065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В рамках процесса компиляции задействованы следующие подпроцессы:</a:t>
            </a:r>
            <a:endParaRPr lang="en-US" sz="2400" dirty="0"/>
          </a:p>
          <a:p>
            <a:r>
              <a:rPr lang="ru-RU" sz="2400" dirty="0"/>
              <a:t>A1 «Разбор»: Детализация на лексический анализ и построение АСТ. Выявлено: Отсутствие проверки корректности входных данных.</a:t>
            </a:r>
          </a:p>
          <a:p>
            <a:r>
              <a:rPr lang="ru-RU" sz="2400" dirty="0"/>
              <a:t>A2 «Оптимизация»: Декомпозиция на локальные и глобальные оптимизации. Выявлено: Нет обратной связи для многопроходной оптимизации.</a:t>
            </a:r>
          </a:p>
          <a:p>
            <a:r>
              <a:rPr lang="ru-RU" sz="2400" dirty="0"/>
              <a:t>A3 «Генерация»: Процесс преобразования АСТ в целевой код.</a:t>
            </a:r>
          </a:p>
          <a:p>
            <a:pPr marL="0" indent="0">
              <a:buNone/>
            </a:pPr>
            <a:r>
              <a:rPr lang="ru-RU" sz="2400" dirty="0"/>
              <a:t>Итог: методология IDEF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ru-RU" sz="2400" dirty="0"/>
              <a:t> позволила структурировать функциональные требования к каждому модулю.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B250C-8D38-4035-B005-D779A360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42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Выявление и устранение узких мест </a:t>
            </a:r>
            <a:br>
              <a:rPr lang="en-US" b="1" dirty="0"/>
            </a:br>
            <a:r>
              <a:rPr lang="ru-RU" b="1" dirty="0"/>
              <a:t>(Анализ AS-IS и</a:t>
            </a:r>
            <a:r>
              <a:rPr lang="en-US" dirty="0"/>
              <a:t> TO-BE</a:t>
            </a:r>
            <a:r>
              <a:rPr lang="ru-RU" b="1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070" y="1736521"/>
            <a:ext cx="9274963" cy="3129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Критический анализ существующей (или проектируемой) модели для выявления проблем.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478D5A-6967-491E-BDEC-DDF531D4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613F901-BBBF-4767-8048-96FD926C1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846015"/>
              </p:ext>
            </p:extLst>
          </p:nvPr>
        </p:nvGraphicFramePr>
        <p:xfrm>
          <a:off x="1763551" y="3015282"/>
          <a:ext cx="8128000" cy="283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817343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7639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Узкое место </a:t>
                      </a:r>
                      <a:r>
                        <a:rPr lang="en-US" sz="2400" dirty="0"/>
                        <a:t>(AS-IS)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Способ исправления </a:t>
                      </a:r>
                      <a:r>
                        <a:rPr lang="en-US" sz="2400" dirty="0"/>
                        <a:t>(TO-BE)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32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проверки корректности входного файла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Добавить блок проверки в процесс разбора (A1)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7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Оптимизация однопроходная, не учитывает синергию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Ввести обратные связи между блоками оптимизации (A2, A21)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218433"/>
                  </a:ext>
                </a:extLst>
              </a:tr>
            </a:tbl>
          </a:graphicData>
        </a:graphic>
      </p:graphicFrame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E71F2AE-EA92-4F03-B176-91BEB6AB13C6}"/>
              </a:ext>
            </a:extLst>
          </p:cNvPr>
          <p:cNvCxnSpPr/>
          <p:nvPr/>
        </p:nvCxnSpPr>
        <p:spPr>
          <a:xfrm>
            <a:off x="5496189" y="5285063"/>
            <a:ext cx="394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F8E2F96-055C-4E14-9F90-682AF0E14B78}"/>
              </a:ext>
            </a:extLst>
          </p:cNvPr>
          <p:cNvCxnSpPr/>
          <p:nvPr/>
        </p:nvCxnSpPr>
        <p:spPr>
          <a:xfrm>
            <a:off x="5433269" y="4061670"/>
            <a:ext cx="394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45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Переход от модели AS-IS к TO-BE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67" y="1744910"/>
            <a:ext cx="9857065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Модель AS-IS: Фиксирует начальное понимание системы, выявляет недостатки.</a:t>
            </a:r>
          </a:p>
          <a:p>
            <a:pPr marL="0" indent="0">
              <a:buNone/>
            </a:pPr>
            <a:r>
              <a:rPr lang="ru-RU" sz="2400" dirty="0"/>
              <a:t>Модель TO-BE: Целевая, улучшенная архитектура компилятора.</a:t>
            </a:r>
          </a:p>
          <a:p>
            <a:pPr marL="0" indent="0">
              <a:buNone/>
            </a:pPr>
            <a:r>
              <a:rPr lang="ru-RU" sz="2400" dirty="0"/>
              <a:t>Что улучшено (по итогам анализа):</a:t>
            </a:r>
          </a:p>
          <a:p>
            <a:pPr lvl="1"/>
            <a:r>
              <a:rPr lang="ru-RU" sz="2400" dirty="0"/>
              <a:t>Добавлена валидация входных данных.</a:t>
            </a:r>
          </a:p>
          <a:p>
            <a:pPr lvl="1"/>
            <a:r>
              <a:rPr lang="ru-RU" sz="2400" dirty="0"/>
              <a:t>Усложнена и улучшена схема оптимизаций за счет обратных связей.</a:t>
            </a:r>
          </a:p>
          <a:p>
            <a:pPr lvl="1"/>
            <a:r>
              <a:rPr lang="ru-RU" sz="2400" dirty="0"/>
              <a:t>Повышена связность и управляемость процессов.</a:t>
            </a:r>
          </a:p>
          <a:p>
            <a:pPr marL="0" indent="0">
              <a:buNone/>
            </a:pPr>
            <a:r>
              <a:rPr lang="ru-RU" sz="2400" dirty="0"/>
              <a:t>Результат: Проектная документация для реализации.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D5D71D-0EBB-4075-9C0E-0F7CB505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8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Структурный подход и декомпозиция в проектировании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2164360"/>
            <a:ext cx="9857065" cy="376665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600" dirty="0"/>
              <a:t>Какие преимущества получены для ВКРБ:</a:t>
            </a:r>
          </a:p>
          <a:p>
            <a:pPr>
              <a:lnSpc>
                <a:spcPct val="120000"/>
              </a:lnSpc>
            </a:pPr>
            <a:r>
              <a:rPr lang="ru-RU" sz="2600" dirty="0"/>
              <a:t>Упрощение сложности: Задача «написать компилятор» разбита на подзадачи «реализовать </a:t>
            </a:r>
            <a:r>
              <a:rPr lang="ru-RU" sz="2600" dirty="0" err="1"/>
              <a:t>лексер</a:t>
            </a:r>
            <a:r>
              <a:rPr lang="ru-RU" sz="2600" dirty="0"/>
              <a:t>», «реализовать оптимизатор» и т.д.</a:t>
            </a:r>
          </a:p>
          <a:p>
            <a:pPr>
              <a:lnSpc>
                <a:spcPct val="120000"/>
              </a:lnSpc>
            </a:pPr>
            <a:r>
              <a:rPr lang="ru-RU" sz="2600" dirty="0"/>
              <a:t>Четкие интерфейсы: Потоки данных между модулями определены на диаграммах.</a:t>
            </a:r>
          </a:p>
          <a:p>
            <a:pPr>
              <a:lnSpc>
                <a:spcPct val="120000"/>
              </a:lnSpc>
            </a:pPr>
            <a:r>
              <a:rPr lang="ru-RU" sz="2600" dirty="0"/>
              <a:t>Локализация ошибок: Проблемы проще искать в конкретном модуле.</a:t>
            </a:r>
          </a:p>
          <a:p>
            <a:pPr>
              <a:lnSpc>
                <a:spcPct val="120000"/>
              </a:lnSpc>
            </a:pPr>
            <a:r>
              <a:rPr lang="ru-RU" sz="2600" dirty="0"/>
              <a:t>Упрощение тестирования: Возможность тестировать модули по отдельности.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5205EA-68E4-429A-B84E-6FFB0457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78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Сравнительный анализ </a:t>
            </a:r>
            <a:br>
              <a:rPr lang="en-US" b="1" dirty="0"/>
            </a:br>
            <a:r>
              <a:rPr lang="ru-RU" b="1" dirty="0"/>
              <a:t>как инструмент системного выбора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66" y="1644242"/>
            <a:ext cx="9857065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Задача: Выбор решений для архитектуры компилятора.</a:t>
            </a:r>
          </a:p>
          <a:p>
            <a:pPr marL="0" indent="0">
              <a:buNone/>
            </a:pPr>
            <a:r>
              <a:rPr lang="ru-RU" sz="2400" dirty="0"/>
              <a:t>Примеры решений на основе анализа:</a:t>
            </a:r>
          </a:p>
          <a:p>
            <a:pPr lvl="1"/>
            <a:r>
              <a:rPr lang="ru-RU" sz="2400" dirty="0"/>
              <a:t>Типизация: Использовать статическую (как в </a:t>
            </a:r>
            <a:r>
              <a:rPr lang="ru-RU" sz="2400" dirty="0" err="1"/>
              <a:t>Cat</a:t>
            </a:r>
            <a:r>
              <a:rPr lang="ru-RU" sz="2400" dirty="0"/>
              <a:t>/</a:t>
            </a:r>
            <a:r>
              <a:rPr lang="ru-RU" sz="2400" dirty="0" err="1"/>
              <a:t>Wasm</a:t>
            </a:r>
            <a:r>
              <a:rPr lang="ru-RU" sz="2400" dirty="0"/>
              <a:t>) или динамическую (как в </a:t>
            </a:r>
            <a:r>
              <a:rPr lang="ru-RU" sz="2400" dirty="0" err="1"/>
              <a:t>Factor</a:t>
            </a:r>
            <a:r>
              <a:rPr lang="ru-RU" sz="2400" dirty="0"/>
              <a:t>) модель?</a:t>
            </a:r>
          </a:p>
          <a:p>
            <a:pPr lvl="1"/>
            <a:r>
              <a:rPr lang="ru-RU" sz="2400" dirty="0"/>
              <a:t>Оптимизации: Применять ли технику «</a:t>
            </a:r>
            <a:r>
              <a:rPr lang="ru-RU" sz="2400" dirty="0" err="1"/>
              <a:t>stack</a:t>
            </a:r>
            <a:r>
              <a:rPr lang="ru-RU" sz="2400" dirty="0"/>
              <a:t> </a:t>
            </a:r>
            <a:r>
              <a:rPr lang="ru-RU" sz="2400" dirty="0" err="1"/>
              <a:t>caching</a:t>
            </a:r>
            <a:r>
              <a:rPr lang="ru-RU" sz="2400" dirty="0"/>
              <a:t>» или «нитевой код»?</a:t>
            </a:r>
          </a:p>
          <a:p>
            <a:pPr lvl="1"/>
            <a:r>
              <a:rPr lang="ru-RU" sz="2400" dirty="0"/>
              <a:t>Управление памятью: Интегрировать сборщик мусора (как </a:t>
            </a:r>
            <a:r>
              <a:rPr lang="ru-RU" sz="2400" dirty="0" err="1"/>
              <a:t>Factor</a:t>
            </a:r>
            <a:r>
              <a:rPr lang="ru-RU" sz="2400" dirty="0"/>
              <a:t>) или делегировать языку-источнику (как </a:t>
            </a:r>
            <a:r>
              <a:rPr lang="ru-RU" sz="2400" dirty="0" err="1"/>
              <a:t>Wasm</a:t>
            </a:r>
            <a:r>
              <a:rPr lang="ru-RU" sz="2400" dirty="0"/>
              <a:t>)?</a:t>
            </a:r>
          </a:p>
          <a:p>
            <a:pPr marL="0" indent="0">
              <a:buNone/>
            </a:pPr>
            <a:r>
              <a:rPr lang="ru-RU" sz="2400" dirty="0"/>
              <a:t>Роль </a:t>
            </a:r>
            <a:r>
              <a:rPr lang="ru-RU" sz="2400" dirty="0" err="1"/>
              <a:t>ТСиСА</a:t>
            </a:r>
            <a:r>
              <a:rPr lang="ru-RU" sz="2400" dirty="0"/>
              <a:t>: Обеспечение системного, а не хаотичного выбора на основе классификации и сравнения аналогов.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E6FBFA-7310-48DF-BF9F-C03DBF1A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21C9F8-F61F-496C-82F7-0CB5A19A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501" y="1980263"/>
            <a:ext cx="2240633" cy="138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1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Практические результаты применения </a:t>
            </a:r>
            <a:r>
              <a:rPr lang="ru-RU" b="1" dirty="0" err="1"/>
              <a:t>ТСиСА</a:t>
            </a:r>
            <a:r>
              <a:rPr lang="ru-RU" b="1" dirty="0"/>
              <a:t> в ВКРБ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81" y="1864453"/>
            <a:ext cx="9352327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Формализованная архитектура: есть четкая диаграмма модулей компилятора и их взаимодействия.</a:t>
            </a:r>
          </a:p>
          <a:p>
            <a:pPr marL="0" indent="0">
              <a:buNone/>
            </a:pPr>
            <a:r>
              <a:rPr lang="ru-RU" sz="2400" dirty="0"/>
              <a:t>Список требований: сформирован на основе моделей AS-IS/TO-BE.</a:t>
            </a:r>
          </a:p>
          <a:p>
            <a:pPr marL="0" indent="0">
              <a:buNone/>
            </a:pPr>
            <a:r>
              <a:rPr lang="ru-RU" sz="2400" dirty="0"/>
              <a:t>План реализации: декомпозиция дает четкий план разработки.</a:t>
            </a:r>
          </a:p>
          <a:p>
            <a:pPr marL="0" indent="0">
              <a:buNone/>
            </a:pPr>
            <a:r>
              <a:rPr lang="ru-RU" sz="2400" dirty="0"/>
              <a:t>Критерии проверки: понимание того, как должна работать система в целом и ее части.</a:t>
            </a:r>
          </a:p>
          <a:p>
            <a:pPr marL="0" indent="0">
              <a:buNone/>
            </a:pPr>
            <a:r>
              <a:rPr lang="ru-RU" sz="2400" dirty="0"/>
              <a:t>Основа для технического задания: все ключевые аспекты системы задокументированы.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523615-984C-4EE3-8CD2-649CBB09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8A0E70-6F6B-4793-BAD0-08961B3E40F2}"/>
              </a:ext>
            </a:extLst>
          </p:cNvPr>
          <p:cNvSpPr/>
          <p:nvPr/>
        </p:nvSpPr>
        <p:spPr>
          <a:xfrm>
            <a:off x="9812015" y="2967114"/>
            <a:ext cx="15928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7200" dirty="0"/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135108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b="1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485" y="1501629"/>
            <a:ext cx="9857065" cy="312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ТСиСА</a:t>
            </a:r>
            <a:r>
              <a:rPr lang="ru-RU" sz="2400" dirty="0"/>
              <a:t> предоставила строгий методологический аппарат для работы над сложным проектом (компилятором).</a:t>
            </a:r>
          </a:p>
          <a:p>
            <a:pPr marL="0" indent="0">
              <a:buNone/>
            </a:pPr>
            <a:r>
              <a:rPr lang="ru-RU" sz="2400" dirty="0"/>
              <a:t>Методология IDEF0 - эффективный инструмент для функционального моделирования и проектирования архитектуры.</a:t>
            </a:r>
          </a:p>
          <a:p>
            <a:pPr marL="0" indent="0">
              <a:buNone/>
            </a:pPr>
            <a:r>
              <a:rPr lang="ru-RU" sz="2400" dirty="0"/>
              <a:t>Подход AS-IS/TO-BE позволил перейти от анализа проблем к проектированию улучшенного решения.</a:t>
            </a:r>
          </a:p>
          <a:p>
            <a:pPr marL="0" indent="0">
              <a:buNone/>
            </a:pPr>
            <a:r>
              <a:rPr lang="ru-RU" sz="2400" dirty="0"/>
              <a:t>Структурный подход и декомпозиция — ключ к управлению сложностью в инженерных проектах.</a:t>
            </a:r>
          </a:p>
          <a:p>
            <a:pPr marL="0" indent="0">
              <a:buNone/>
            </a:pPr>
            <a:r>
              <a:rPr lang="ru-RU" sz="2400" dirty="0"/>
              <a:t>Применение </a:t>
            </a:r>
            <a:r>
              <a:rPr lang="ru-RU" sz="2400" dirty="0" err="1"/>
              <a:t>ТСиСА</a:t>
            </a:r>
            <a:r>
              <a:rPr lang="ru-RU" sz="2400" dirty="0"/>
              <a:t> на всех этапах (НИР, проектирование, реализация) повышает системность, обоснованность и качество работы.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001A13-9484-48F5-98B0-7E0EF9F2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6" descr="Picture background">
            <a:extLst>
              <a:ext uri="{FF2B5EF4-FFF2-40B4-BE49-F238E27FC236}">
                <a16:creationId xmlns:a16="http://schemas.microsoft.com/office/drawing/2014/main" id="{DCE368B6-A6C4-4980-9104-7629BE6A4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503" y="3934435"/>
            <a:ext cx="2264179" cy="203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884839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65</TotalTime>
  <Words>256</Words>
  <Application>Microsoft Office PowerPoint</Application>
  <PresentationFormat>Широкоэкранный</PresentationFormat>
  <Paragraphs>104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Gill Sans MT</vt:lpstr>
      <vt:lpstr>Посылка</vt:lpstr>
      <vt:lpstr>Компилятор стекового языка программирования</vt:lpstr>
      <vt:lpstr>Введение</vt:lpstr>
      <vt:lpstr>Цель и задачи ВКРБ</vt:lpstr>
      <vt:lpstr>основные принципы</vt:lpstr>
      <vt:lpstr>Классификация системы</vt:lpstr>
      <vt:lpstr>Объект исследования: Стековые языки программирования</vt:lpstr>
      <vt:lpstr>Применение IDEF0: Определение контекста системы</vt:lpstr>
      <vt:lpstr>Моделирование процессов компиляции</vt:lpstr>
      <vt:lpstr>Детальный анализ подпроцессов</vt:lpstr>
      <vt:lpstr>Выявление и устранение узких мест  (Анализ AS-IS и TO-BE)</vt:lpstr>
      <vt:lpstr>Переход от модели AS-IS к TO-BE</vt:lpstr>
      <vt:lpstr>Структурный подход и декомпозиция в проектировании</vt:lpstr>
      <vt:lpstr>Сравнительный анализ  как инструмент системного выбора</vt:lpstr>
      <vt:lpstr>Практические результаты применения ТСиСА в ВКРБ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Компилятор стекового языка программирования</dc:title>
  <dc:creator>Залыгин Вячеслав</dc:creator>
  <cp:lastModifiedBy>Залыгин Вячеслав</cp:lastModifiedBy>
  <cp:revision>36</cp:revision>
  <dcterms:created xsi:type="dcterms:W3CDTF">2025-12-17T16:21:44Z</dcterms:created>
  <dcterms:modified xsi:type="dcterms:W3CDTF">2025-12-17T17:28:01Z</dcterms:modified>
</cp:coreProperties>
</file>